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71" r:id="rId6"/>
    <p:sldId id="270" r:id="rId7"/>
    <p:sldId id="263" r:id="rId8"/>
    <p:sldId id="261" r:id="rId9"/>
    <p:sldId id="262" r:id="rId10"/>
    <p:sldId id="268" r:id="rId11"/>
    <p:sldId id="26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DATA SCIENCE)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latin typeface="Times New Roman" panose="02020603050405020304" pitchFamily="18" charset="0"/>
                <a:ea typeface="Arial Black" panose="020B0A04020102020204" pitchFamily="34" charset="0"/>
                <a:cs typeface="Times New Roman" panose="02020603050405020304" pitchFamily="18" charset="0"/>
              </a:rPr>
            </a:br>
            <a:br>
              <a:rPr lang="en-US" sz="1800" b="1" dirty="0">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457200" y="3435052"/>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Batch Details</a:t>
            </a:r>
          </a:p>
        </p:txBody>
      </p:sp>
      <p:sp>
        <p:nvSpPr>
          <p:cNvPr id="9" name="Rectangle 8"/>
          <p:cNvSpPr/>
          <p:nvPr/>
        </p:nvSpPr>
        <p:spPr>
          <a:xfrm>
            <a:off x="2743200" y="2639839"/>
            <a:ext cx="3275256" cy="461665"/>
          </a:xfrm>
          <a:prstGeom prst="rect">
            <a:avLst/>
          </a:prstGeom>
        </p:spPr>
        <p:txBody>
          <a:bodyPr wrap="none">
            <a:spAutoFit/>
          </a:bodyPr>
          <a:lstStyle/>
          <a:p>
            <a:r>
              <a:rPr lang="en-US" sz="2400" dirty="0">
                <a:latin typeface="Times New Roman" pitchFamily="18" charset="0"/>
                <a:cs typeface="Times New Roman" pitchFamily="18" charset="0"/>
              </a:rPr>
              <a:t>    Project Zeroth Review</a:t>
            </a:r>
            <a:endParaRPr lang="en-US" sz="2400" dirty="0"/>
          </a:p>
        </p:txBody>
      </p:sp>
      <p:sp>
        <p:nvSpPr>
          <p:cNvPr id="10" name="Rectangle 9"/>
          <p:cNvSpPr/>
          <p:nvPr/>
        </p:nvSpPr>
        <p:spPr>
          <a:xfrm>
            <a:off x="499374" y="2969176"/>
            <a:ext cx="8420548" cy="677108"/>
          </a:xfrm>
          <a:prstGeom prst="rect">
            <a:avLst/>
          </a:prstGeom>
        </p:spPr>
        <p:txBody>
          <a:bodyPr wrap="square">
            <a:spAutoFit/>
          </a:bodyPr>
          <a:lstStyle/>
          <a:p>
            <a:r>
              <a:rPr lang="en-US" sz="2000" dirty="0">
                <a:latin typeface="Times New Roman" pitchFamily="18" charset="0"/>
                <a:cs typeface="Times New Roman" pitchFamily="18" charset="0"/>
              </a:rPr>
              <a:t>Title of Project : </a:t>
            </a:r>
            <a:r>
              <a:rPr lang="en-US" b="1" dirty="0">
                <a:latin typeface="Times New Roman" pitchFamily="18" charset="0"/>
                <a:cs typeface="Times New Roman" pitchFamily="18" charset="0"/>
              </a:rPr>
              <a:t>Multi stage neural network based ensemble learning for</a:t>
            </a:r>
          </a:p>
          <a:p>
            <a:r>
              <a:rPr lang="en-US" b="1" dirty="0">
                <a:latin typeface="Times New Roman" pitchFamily="18" charset="0"/>
                <a:cs typeface="Times New Roman" pitchFamily="18" charset="0"/>
              </a:rPr>
              <a:t>                                 Wheat leaf disease classification.</a:t>
            </a:r>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1591264558"/>
              </p:ext>
            </p:extLst>
          </p:nvPr>
        </p:nvGraphicFramePr>
        <p:xfrm>
          <a:off x="556747" y="3804384"/>
          <a:ext cx="8305801" cy="2372724"/>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515065">
                  <a:extLst>
                    <a:ext uri="{9D8B030D-6E8A-4147-A177-3AD203B41FA5}">
                      <a16:colId xmlns:a16="http://schemas.microsoft.com/office/drawing/2014/main" val="2541411041"/>
                    </a:ext>
                  </a:extLst>
                </a:gridCol>
                <a:gridCol w="2156948">
                  <a:extLst>
                    <a:ext uri="{9D8B030D-6E8A-4147-A177-3AD203B41FA5}">
                      <a16:colId xmlns:a16="http://schemas.microsoft.com/office/drawing/2014/main" val="247963892"/>
                    </a:ext>
                  </a:extLst>
                </a:gridCol>
              </a:tblGrid>
              <a:tr h="382653">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r>
                        <a:rPr lang="en-US" dirty="0"/>
                        <a:t>1</a:t>
                      </a:r>
                      <a:endParaRPr lang="en-IN" dirty="0"/>
                    </a:p>
                  </a:txBody>
                  <a:tcPr/>
                </a:tc>
                <a:tc>
                  <a:txBody>
                    <a:bodyPr/>
                    <a:lstStyle/>
                    <a:p>
                      <a:r>
                        <a:rPr lang="en-US" dirty="0"/>
                        <a:t>22F61A47I3</a:t>
                      </a:r>
                      <a:endParaRPr lang="en-IN" dirty="0"/>
                    </a:p>
                  </a:txBody>
                  <a:tcPr/>
                </a:tc>
                <a:tc>
                  <a:txBody>
                    <a:bodyPr/>
                    <a:lstStyle/>
                    <a:p>
                      <a:r>
                        <a:rPr lang="en-US" dirty="0"/>
                        <a:t>G.YASWASREE</a:t>
                      </a:r>
                      <a:endParaRPr lang="en-IN" dirty="0"/>
                    </a:p>
                  </a:txBody>
                  <a:tcPr/>
                </a:tc>
                <a:tc rowSpan="3">
                  <a:txBody>
                    <a:bodyPr/>
                    <a:lstStyle/>
                    <a:p>
                      <a:endParaRPr lang="en-US" dirty="0"/>
                    </a:p>
                    <a:p>
                      <a:endParaRPr lang="en-US" dirty="0"/>
                    </a:p>
                    <a:p>
                      <a:r>
                        <a:rPr lang="en-US" dirty="0"/>
                        <a:t>        </a:t>
                      </a:r>
                      <a:r>
                        <a:rPr lang="en-US" dirty="0" err="1"/>
                        <a:t>Dr.N.BABU</a:t>
                      </a:r>
                      <a:endParaRPr lang="en-IN" dirty="0"/>
                    </a:p>
                  </a:txBody>
                  <a:tcPr/>
                </a:tc>
                <a:extLst>
                  <a:ext uri="{0D108BD9-81ED-4DB2-BD59-A6C34878D82A}">
                    <a16:rowId xmlns:a16="http://schemas.microsoft.com/office/drawing/2014/main" val="3672826067"/>
                  </a:ext>
                </a:extLst>
              </a:tr>
              <a:tr h="433161">
                <a:tc>
                  <a:txBody>
                    <a:bodyPr/>
                    <a:lstStyle/>
                    <a:p>
                      <a:r>
                        <a:rPr lang="en-US" dirty="0"/>
                        <a:t>2</a:t>
                      </a:r>
                      <a:endParaRPr lang="en-IN" dirty="0"/>
                    </a:p>
                  </a:txBody>
                  <a:tcPr/>
                </a:tc>
                <a:tc>
                  <a:txBody>
                    <a:bodyPr/>
                    <a:lstStyle/>
                    <a:p>
                      <a:r>
                        <a:rPr lang="en-US" dirty="0"/>
                        <a:t>23F65A4718</a:t>
                      </a:r>
                      <a:endParaRPr lang="en-IN" dirty="0"/>
                    </a:p>
                  </a:txBody>
                  <a:tcPr/>
                </a:tc>
                <a:tc>
                  <a:txBody>
                    <a:bodyPr/>
                    <a:lstStyle/>
                    <a:p>
                      <a:r>
                        <a:rPr lang="en-US" dirty="0"/>
                        <a:t>P.THARUN KUMAR</a:t>
                      </a:r>
                      <a:endParaRPr lang="en-IN" dirty="0"/>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r>
                        <a:rPr lang="en-US" dirty="0"/>
                        <a:t>3</a:t>
                      </a:r>
                      <a:endParaRPr lang="en-IN" dirty="0"/>
                    </a:p>
                  </a:txBody>
                  <a:tcPr/>
                </a:tc>
                <a:tc>
                  <a:txBody>
                    <a:bodyPr/>
                    <a:lstStyle/>
                    <a:p>
                      <a:r>
                        <a:rPr lang="en-US" dirty="0"/>
                        <a:t>22F61A47I0</a:t>
                      </a:r>
                      <a:endParaRPr lang="en-IN" dirty="0"/>
                    </a:p>
                  </a:txBody>
                  <a:tcPr/>
                </a:tc>
                <a:tc>
                  <a:txBody>
                    <a:bodyPr/>
                    <a:lstStyle/>
                    <a:p>
                      <a:r>
                        <a:rPr lang="en-US" dirty="0"/>
                        <a:t>M.YASWANTH VARMA</a:t>
                      </a:r>
                      <a:endParaRPr lang="en-IN" dirty="0"/>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r>
                        <a:rPr lang="en-US" dirty="0"/>
                        <a:t>4</a:t>
                      </a:r>
                      <a:endParaRPr lang="en-IN" dirty="0"/>
                    </a:p>
                  </a:txBody>
                  <a:tcPr/>
                </a:tc>
                <a:tc>
                  <a:txBody>
                    <a:bodyPr/>
                    <a:lstStyle/>
                    <a:p>
                      <a:r>
                        <a:rPr lang="en-US" dirty="0"/>
                        <a:t>22F61A47D4</a:t>
                      </a:r>
                      <a:endParaRPr lang="en-IN" dirty="0"/>
                    </a:p>
                  </a:txBody>
                  <a:tcPr/>
                </a:tc>
                <a:tc>
                  <a:txBody>
                    <a:bodyPr/>
                    <a:lstStyle/>
                    <a:p>
                      <a:r>
                        <a:rPr lang="en-US" dirty="0"/>
                        <a:t>S.SANDHYA</a:t>
                      </a:r>
                      <a:endParaRPr lang="en-IN" dirty="0"/>
                    </a:p>
                  </a:txBody>
                  <a:tcPr/>
                </a:tc>
                <a:tc>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OBJECTIVE</a:t>
            </a:r>
          </a:p>
        </p:txBody>
      </p:sp>
      <p:sp>
        <p:nvSpPr>
          <p:cNvPr id="3" name="Rectangle 2"/>
          <p:cNvSpPr/>
          <p:nvPr/>
        </p:nvSpPr>
        <p:spPr>
          <a:xfrm>
            <a:off x="228600" y="1752600"/>
            <a:ext cx="8382000" cy="2169825"/>
          </a:xfrm>
          <a:prstGeom prst="rect">
            <a:avLst/>
          </a:prstGeom>
        </p:spPr>
        <p:txBody>
          <a:bodyPr wrap="square">
            <a:spAutoFit/>
          </a:bodyPr>
          <a:lstStyle/>
          <a:p>
            <a:pPr marL="285750" indent="-285750">
              <a:lnSpc>
                <a:spcPct val="150000"/>
              </a:lnSpc>
              <a:buFont typeface="Arial" pitchFamily="34" charset="0"/>
              <a:buChar char="•"/>
            </a:pPr>
            <a:r>
              <a:rPr lang="en-US" dirty="0">
                <a:latin typeface="Times New Roman" pitchFamily="18" charset="0"/>
                <a:cs typeface="Times New Roman" pitchFamily="18" charset="0"/>
              </a:rPr>
              <a:t>To accurately classify wheat leaf diseases using deep learning.</a:t>
            </a:r>
          </a:p>
          <a:p>
            <a:pPr marL="285750" indent="-285750">
              <a:lnSpc>
                <a:spcPct val="150000"/>
              </a:lnSpc>
              <a:buFont typeface="Arial" pitchFamily="34" charset="0"/>
              <a:buChar char="•"/>
            </a:pPr>
            <a:r>
              <a:rPr lang="en-US" dirty="0">
                <a:latin typeface="Times New Roman" pitchFamily="18" charset="0"/>
                <a:cs typeface="Times New Roman" pitchFamily="18" charset="0"/>
              </a:rPr>
              <a:t>To design a multi-stage CNN model for effective feature extraction.</a:t>
            </a:r>
          </a:p>
          <a:p>
            <a:pPr marL="285750" indent="-285750">
              <a:lnSpc>
                <a:spcPct val="150000"/>
              </a:lnSpc>
              <a:buFont typeface="Arial" pitchFamily="34" charset="0"/>
              <a:buChar char="•"/>
            </a:pPr>
            <a:r>
              <a:rPr lang="en-US" dirty="0">
                <a:latin typeface="Times New Roman" pitchFamily="18" charset="0"/>
                <a:cs typeface="Times New Roman" pitchFamily="18" charset="0"/>
              </a:rPr>
              <a:t>To apply ensemble learning to improve prediction accuracy.</a:t>
            </a:r>
          </a:p>
          <a:p>
            <a:pPr marL="285750" indent="-285750">
              <a:lnSpc>
                <a:spcPct val="150000"/>
              </a:lnSpc>
              <a:buFont typeface="Arial" pitchFamily="34" charset="0"/>
              <a:buChar char="•"/>
            </a:pPr>
            <a:r>
              <a:rPr lang="en-US" dirty="0">
                <a:latin typeface="Times New Roman" pitchFamily="18" charset="0"/>
                <a:cs typeface="Times New Roman" pitchFamily="18" charset="0"/>
              </a:rPr>
              <a:t>To handle real-world variations through preprocessing and augmentation.</a:t>
            </a:r>
          </a:p>
          <a:p>
            <a:pPr marL="285750" indent="-285750">
              <a:lnSpc>
                <a:spcPct val="150000"/>
              </a:lnSpc>
              <a:buFont typeface="Arial" pitchFamily="34" charset="0"/>
              <a:buChar char="•"/>
            </a:pPr>
            <a:r>
              <a:rPr lang="en-US" dirty="0">
                <a:latin typeface="Times New Roman" pitchFamily="18" charset="0"/>
                <a:cs typeface="Times New Roman" pitchFamily="18" charset="0"/>
              </a:rPr>
              <a:t>To build a robust system suitable for agricultural disease detection.</a:t>
            </a:r>
          </a:p>
        </p:txBody>
      </p:sp>
      <p:pic>
        <p:nvPicPr>
          <p:cNvPr id="6" name="Picture 5">
            <a:extLst>
              <a:ext uri="{FF2B5EF4-FFF2-40B4-BE49-F238E27FC236}">
                <a16:creationId xmlns:a16="http://schemas.microsoft.com/office/drawing/2014/main" id="{B6A159DE-7E2B-4261-9D55-DA3937405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4114801"/>
            <a:ext cx="8153400" cy="27553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p:txBody>
      </p:sp>
      <p:sp>
        <p:nvSpPr>
          <p:cNvPr id="3" name="Rectangle 2"/>
          <p:cNvSpPr/>
          <p:nvPr/>
        </p:nvSpPr>
        <p:spPr>
          <a:xfrm>
            <a:off x="304800" y="1143000"/>
            <a:ext cx="8458200" cy="5493812"/>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Wheat is a globally important food crop and is highly affected by foliar diseases such as leaf rust, yellow rust, </a:t>
            </a:r>
            <a:r>
              <a:rPr lang="en-US" dirty="0" err="1">
                <a:latin typeface="Times New Roman" pitchFamily="18" charset="0"/>
                <a:cs typeface="Times New Roman" pitchFamily="18" charset="0"/>
              </a:rPr>
              <a:t>septoria</a:t>
            </a:r>
            <a:r>
              <a:rPr lang="en-US" dirty="0">
                <a:latin typeface="Times New Roman" pitchFamily="18" charset="0"/>
                <a:cs typeface="Times New Roman" pitchFamily="18" charset="0"/>
              </a:rPr>
              <a:t>, and powdery mildew. Manual identification of these diseases is time-consuming, requires domain experts, and is unsuitable for large-scale </a:t>
            </a:r>
            <a:r>
              <a:rPr lang="en-US" dirty="0" err="1">
                <a:latin typeface="Times New Roman" pitchFamily="18" charset="0"/>
                <a:cs typeface="Times New Roman" pitchFamily="18" charset="0"/>
              </a:rPr>
              <a:t>farming.To</a:t>
            </a:r>
            <a:r>
              <a:rPr lang="en-US" dirty="0">
                <a:latin typeface="Times New Roman" pitchFamily="18" charset="0"/>
                <a:cs typeface="Times New Roman" pitchFamily="18" charset="0"/>
              </a:rPr>
              <a:t> address this, the project proposes a Multi-Stage Neural Network–based Ensemble Learning Approach for wheat leaf disease classification. The method combines multiple deep learning models at different stages to extract hierarchical and discriminative features from leaf images. Through ensemble learning, predictions from various CNN models are integrated to improve accuracy, robustness, and </a:t>
            </a:r>
            <a:r>
              <a:rPr lang="en-US" dirty="0" err="1">
                <a:latin typeface="Times New Roman" pitchFamily="18" charset="0"/>
                <a:cs typeface="Times New Roman" pitchFamily="18" charset="0"/>
              </a:rPr>
              <a:t>generalization.The</a:t>
            </a:r>
            <a:r>
              <a:rPr lang="en-US" dirty="0">
                <a:latin typeface="Times New Roman" pitchFamily="18" charset="0"/>
                <a:cs typeface="Times New Roman" pitchFamily="18" charset="0"/>
              </a:rPr>
              <a:t> dataset undergoes preprocessing and augmentation to handle variations such as illumination, background noise, and image angles. Experiments show that the ensemble model significantly outperforms single CNN models, achieving higher precision and </a:t>
            </a:r>
            <a:r>
              <a:rPr lang="en-US" dirty="0" err="1">
                <a:latin typeface="Times New Roman" pitchFamily="18" charset="0"/>
                <a:cs typeface="Times New Roman" pitchFamily="18" charset="0"/>
              </a:rPr>
              <a:t>recall.This</a:t>
            </a:r>
            <a:r>
              <a:rPr lang="en-US" dirty="0">
                <a:latin typeface="Times New Roman" pitchFamily="18" charset="0"/>
                <a:cs typeface="Times New Roman" pitchFamily="18" charset="0"/>
              </a:rPr>
              <a:t> system can assist farmers and agricultural experts with early disease detection, supporting timely intervention, reducing crop loss, and improving wheat productivity.</a:t>
            </a:r>
            <a:endParaRPr lang="en-IN"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1673163181"/>
              </p:ext>
            </p:extLst>
          </p:nvPr>
        </p:nvGraphicFramePr>
        <p:xfrm>
          <a:off x="685800" y="1066800"/>
          <a:ext cx="8001000" cy="52120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70840">
                <a:tc>
                  <a:txBody>
                    <a:bodyPr/>
                    <a:lstStyle/>
                    <a:p>
                      <a:pPr algn="ctr"/>
                      <a:r>
                        <a:rPr lang="en-US" dirty="0">
                          <a:latin typeface="Times New Roman" pitchFamily="18" charset="0"/>
                          <a:cs typeface="Times New Roman" pitchFamily="18" charset="0"/>
                        </a:rPr>
                        <a:t>Sno</a:t>
                      </a:r>
                    </a:p>
                  </a:txBody>
                  <a:tcPr>
                    <a:solidFill>
                      <a:srgbClr val="7030A0"/>
                    </a:solidFill>
                  </a:tcPr>
                </a:tc>
                <a:tc>
                  <a:txBody>
                    <a:bodyPr/>
                    <a:lstStyle/>
                    <a:p>
                      <a:pPr algn="ctr"/>
                      <a:r>
                        <a:rPr lang="en-US" dirty="0">
                          <a:latin typeface="Times New Roman" pitchFamily="18" charset="0"/>
                          <a:cs typeface="Times New Roman" pitchFamily="18" charset="0"/>
                        </a:rPr>
                        <a:t>Title of the Paper</a:t>
                      </a:r>
                    </a:p>
                  </a:txBody>
                  <a:tcPr>
                    <a:solidFill>
                      <a:srgbClr val="7030A0"/>
                    </a:solidFill>
                  </a:tcPr>
                </a:tc>
                <a:tc>
                  <a:txBody>
                    <a:bodyPr/>
                    <a:lstStyle/>
                    <a:p>
                      <a:pPr algn="ctr"/>
                      <a:r>
                        <a:rPr lang="en-US" dirty="0">
                          <a:latin typeface="Times New Roman" pitchFamily="18" charset="0"/>
                          <a:cs typeface="Times New Roman" pitchFamily="18" charset="0"/>
                        </a:rPr>
                        <a:t>Year of publication</a:t>
                      </a:r>
                    </a:p>
                  </a:txBody>
                  <a:tcPr>
                    <a:solidFill>
                      <a:srgbClr val="7030A0"/>
                    </a:solidFill>
                  </a:tcPr>
                </a:tc>
                <a:tc>
                  <a:txBody>
                    <a:bodyPr/>
                    <a:lstStyle/>
                    <a:p>
                      <a:pPr algn="ctr"/>
                      <a:r>
                        <a:rPr lang="en-US" dirty="0">
                          <a:latin typeface="Times New Roman" pitchFamily="18" charset="0"/>
                          <a:cs typeface="Times New Roman" pitchFamily="18" charset="0"/>
                        </a:rPr>
                        <a:t>Author</a:t>
                      </a:r>
                    </a:p>
                  </a:txBody>
                  <a:tcPr>
                    <a:solidFill>
                      <a:srgbClr val="7030A0"/>
                    </a:solidFill>
                  </a:tcPr>
                </a:tc>
                <a:tc>
                  <a:txBody>
                    <a:bodyPr/>
                    <a:lstStyle/>
                    <a:p>
                      <a:pPr algn="ctr"/>
                      <a:r>
                        <a:rPr lang="en-US" dirty="0">
                          <a:latin typeface="Times New Roman" pitchFamily="18" charset="0"/>
                          <a:cs typeface="Times New Roman" pitchFamily="18" charset="0"/>
                        </a:rPr>
                        <a:t>Comments</a:t>
                      </a:r>
                    </a:p>
                  </a:txBody>
                  <a:tcPr>
                    <a:solidFill>
                      <a:srgbClr val="7030A0"/>
                    </a:solidFill>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Multi-Stage Neural Network-Based Ensemble Learning Approach for Wheat Leaf Disease Classification</a:t>
                      </a:r>
                    </a:p>
                  </a:txBody>
                  <a:tcPr/>
                </a:tc>
                <a:tc>
                  <a:txBody>
                    <a:bodyPr/>
                    <a:lstStyle/>
                    <a:p>
                      <a:r>
                        <a:rPr lang="en-IN" dirty="0"/>
                        <a:t>2025</a:t>
                      </a:r>
                      <a:endParaRPr lang="en-US" dirty="0"/>
                    </a:p>
                  </a:txBody>
                  <a:tcPr/>
                </a:tc>
                <a:tc>
                  <a:txBody>
                    <a:bodyPr/>
                    <a:lstStyle/>
                    <a:p>
                      <a:r>
                        <a:rPr lang="en-IN" dirty="0" err="1"/>
                        <a:t>Samia</a:t>
                      </a:r>
                      <a:r>
                        <a:rPr lang="en-IN" dirty="0"/>
                        <a:t> Nawaz </a:t>
                      </a:r>
                      <a:r>
                        <a:rPr lang="en-IN" dirty="0" err="1"/>
                        <a:t>Yousafzai</a:t>
                      </a:r>
                      <a:r>
                        <a:rPr lang="en-IN" dirty="0"/>
                        <a:t> et al.</a:t>
                      </a:r>
                      <a:endParaRPr lang="en-US" dirty="0"/>
                    </a:p>
                  </a:txBody>
                  <a:tcPr/>
                </a:tc>
                <a:tc>
                  <a:txBody>
                    <a:bodyPr/>
                    <a:lstStyle/>
                    <a:p>
                      <a:r>
                        <a:rPr lang="en-US" dirty="0"/>
                        <a:t>Introduces multi-stage CNN with ensemble learning for high-accuracy wheat disease detection.</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Wheat Leaf Disease Detection Using Inception-</a:t>
                      </a:r>
                      <a:r>
                        <a:rPr lang="en-US" dirty="0" err="1"/>
                        <a:t>ResNet</a:t>
                      </a:r>
                      <a:endParaRPr lang="en-US" dirty="0"/>
                    </a:p>
                  </a:txBody>
                  <a:tcPr/>
                </a:tc>
                <a:tc>
                  <a:txBody>
                    <a:bodyPr/>
                    <a:lstStyle/>
                    <a:p>
                      <a:r>
                        <a:rPr lang="en-IN" dirty="0"/>
                        <a:t>2022</a:t>
                      </a:r>
                      <a:endParaRPr lang="en-US" dirty="0"/>
                    </a:p>
                  </a:txBody>
                  <a:tcPr/>
                </a:tc>
                <a:tc>
                  <a:txBody>
                    <a:bodyPr/>
                    <a:lstStyle/>
                    <a:p>
                      <a:r>
                        <a:rPr lang="en-IN" dirty="0"/>
                        <a:t>Li et al.</a:t>
                      </a:r>
                      <a:endParaRPr lang="en-US" dirty="0"/>
                    </a:p>
                  </a:txBody>
                  <a:tcPr/>
                </a:tc>
                <a:tc>
                  <a:txBody>
                    <a:bodyPr/>
                    <a:lstStyle/>
                    <a:p>
                      <a:r>
                        <a:rPr lang="en-US" dirty="0"/>
                        <a:t>Uses UAV images; good accuracy but computationally heavy.</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17510057"/>
              </p:ext>
            </p:extLst>
          </p:nvPr>
        </p:nvGraphicFramePr>
        <p:xfrm>
          <a:off x="457200" y="838200"/>
          <a:ext cx="8001000" cy="52578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45695">
                <a:tc>
                  <a:txBody>
                    <a:bodyPr/>
                    <a:lstStyle/>
                    <a:p>
                      <a:pPr algn="ctr"/>
                      <a:r>
                        <a:rPr lang="en-US" dirty="0">
                          <a:latin typeface="Times New Roman" pitchFamily="18" charset="0"/>
                          <a:cs typeface="Times New Roman" pitchFamily="18" charset="0"/>
                        </a:rPr>
                        <a:t>Sno</a:t>
                      </a:r>
                    </a:p>
                  </a:txBody>
                  <a:tcPr>
                    <a:solidFill>
                      <a:srgbClr val="7030A0"/>
                    </a:solidFill>
                  </a:tcPr>
                </a:tc>
                <a:tc>
                  <a:txBody>
                    <a:bodyPr/>
                    <a:lstStyle/>
                    <a:p>
                      <a:pPr algn="ctr"/>
                      <a:r>
                        <a:rPr lang="en-US" dirty="0">
                          <a:latin typeface="Times New Roman" pitchFamily="18" charset="0"/>
                          <a:cs typeface="Times New Roman" pitchFamily="18" charset="0"/>
                        </a:rPr>
                        <a:t>Title of the Paper</a:t>
                      </a:r>
                    </a:p>
                  </a:txBody>
                  <a:tcPr>
                    <a:solidFill>
                      <a:srgbClr val="7030A0"/>
                    </a:solidFill>
                  </a:tcPr>
                </a:tc>
                <a:tc>
                  <a:txBody>
                    <a:bodyPr/>
                    <a:lstStyle/>
                    <a:p>
                      <a:pPr algn="ctr"/>
                      <a:r>
                        <a:rPr lang="en-US" dirty="0">
                          <a:latin typeface="Times New Roman" pitchFamily="18" charset="0"/>
                          <a:cs typeface="Times New Roman" pitchFamily="18" charset="0"/>
                        </a:rPr>
                        <a:t>Year of publication</a:t>
                      </a:r>
                    </a:p>
                  </a:txBody>
                  <a:tcPr>
                    <a:solidFill>
                      <a:srgbClr val="7030A0"/>
                    </a:solidFill>
                  </a:tcPr>
                </a:tc>
                <a:tc>
                  <a:txBody>
                    <a:bodyPr/>
                    <a:lstStyle/>
                    <a:p>
                      <a:pPr algn="ctr"/>
                      <a:r>
                        <a:rPr lang="en-US" dirty="0">
                          <a:latin typeface="Times New Roman" pitchFamily="18" charset="0"/>
                          <a:cs typeface="Times New Roman" pitchFamily="18" charset="0"/>
                        </a:rPr>
                        <a:t>Author</a:t>
                      </a:r>
                    </a:p>
                  </a:txBody>
                  <a:tcPr>
                    <a:solidFill>
                      <a:srgbClr val="7030A0"/>
                    </a:solidFill>
                  </a:tcPr>
                </a:tc>
                <a:tc>
                  <a:txBody>
                    <a:bodyPr/>
                    <a:lstStyle/>
                    <a:p>
                      <a:pPr algn="ctr"/>
                      <a:r>
                        <a:rPr lang="en-US" dirty="0">
                          <a:latin typeface="Times New Roman" pitchFamily="18" charset="0"/>
                          <a:cs typeface="Times New Roman" pitchFamily="18" charset="0"/>
                        </a:rPr>
                        <a:t>Comments</a:t>
                      </a:r>
                    </a:p>
                  </a:txBody>
                  <a:tcPr>
                    <a:solidFill>
                      <a:srgbClr val="7030A0"/>
                    </a:solidFill>
                  </a:tcPr>
                </a:tc>
                <a:extLst>
                  <a:ext uri="{0D108BD9-81ED-4DB2-BD59-A6C34878D82A}">
                    <a16:rowId xmlns:a16="http://schemas.microsoft.com/office/drawing/2014/main" val="10000"/>
                  </a:ext>
                </a:extLst>
              </a:tr>
              <a:tr h="2859505">
                <a:tc>
                  <a:txBody>
                    <a:bodyPr/>
                    <a:lstStyle/>
                    <a:p>
                      <a:r>
                        <a:rPr lang="en-US" dirty="0"/>
                        <a:t>3</a:t>
                      </a:r>
                    </a:p>
                  </a:txBody>
                  <a:tcPr/>
                </a:tc>
                <a:tc>
                  <a:txBody>
                    <a:bodyPr/>
                    <a:lstStyle/>
                    <a:p>
                      <a:r>
                        <a:rPr lang="en-IN" dirty="0"/>
                        <a:t>VGG-Based Wheat Disease Classification</a:t>
                      </a:r>
                      <a:endParaRPr lang="en-US" dirty="0"/>
                    </a:p>
                  </a:txBody>
                  <a:tcPr/>
                </a:tc>
                <a:tc>
                  <a:txBody>
                    <a:bodyPr/>
                    <a:lstStyle/>
                    <a:p>
                      <a:r>
                        <a:rPr lang="en-IN" dirty="0"/>
                        <a:t>2019</a:t>
                      </a:r>
                      <a:endParaRPr lang="en-US" dirty="0"/>
                    </a:p>
                  </a:txBody>
                  <a:tcPr/>
                </a:tc>
                <a:tc>
                  <a:txBody>
                    <a:bodyPr/>
                    <a:lstStyle/>
                    <a:p>
                      <a:r>
                        <a:rPr lang="en-IN" dirty="0"/>
                        <a:t>Zhang et al.</a:t>
                      </a:r>
                      <a:endParaRPr lang="en-US" dirty="0"/>
                    </a:p>
                  </a:txBody>
                  <a:tcPr/>
                </a:tc>
                <a:tc>
                  <a:txBody>
                    <a:bodyPr/>
                    <a:lstStyle/>
                    <a:p>
                      <a:r>
                        <a:rPr lang="en-US" dirty="0"/>
                        <a:t>Traditional deep learning; high training time and </a:t>
                      </a:r>
                      <a:r>
                        <a:rPr lang="en-US" dirty="0" err="1"/>
                        <a:t>overfitting</a:t>
                      </a:r>
                      <a:r>
                        <a:rPr lang="en-US" dirty="0"/>
                        <a:t> issues.</a:t>
                      </a:r>
                    </a:p>
                  </a:txBody>
                  <a:tcPr/>
                </a:tc>
                <a:extLst>
                  <a:ext uri="{0D108BD9-81ED-4DB2-BD59-A6C34878D82A}">
                    <a16:rowId xmlns:a16="http://schemas.microsoft.com/office/drawing/2014/main" val="10001"/>
                  </a:ext>
                </a:extLst>
              </a:tr>
              <a:tr h="1752600">
                <a:tc>
                  <a:txBody>
                    <a:bodyPr/>
                    <a:lstStyle/>
                    <a:p>
                      <a:r>
                        <a:rPr lang="en-US" dirty="0"/>
                        <a:t>4</a:t>
                      </a:r>
                    </a:p>
                  </a:txBody>
                  <a:tcPr/>
                </a:tc>
                <a:tc>
                  <a:txBody>
                    <a:bodyPr/>
                    <a:lstStyle/>
                    <a:p>
                      <a:r>
                        <a:rPr lang="en-US" dirty="0" err="1"/>
                        <a:t>EfficientNet</a:t>
                      </a:r>
                      <a:r>
                        <a:rPr lang="en-US" dirty="0"/>
                        <a:t> for Wheat Fungal Disease Classification</a:t>
                      </a:r>
                    </a:p>
                  </a:txBody>
                  <a:tcPr/>
                </a:tc>
                <a:tc>
                  <a:txBody>
                    <a:bodyPr/>
                    <a:lstStyle/>
                    <a:p>
                      <a:r>
                        <a:rPr lang="en-US" dirty="0"/>
                        <a:t>2020</a:t>
                      </a:r>
                    </a:p>
                  </a:txBody>
                  <a:tcPr/>
                </a:tc>
                <a:tc>
                  <a:txBody>
                    <a:bodyPr/>
                    <a:lstStyle/>
                    <a:p>
                      <a:r>
                        <a:rPr lang="en-IN" dirty="0" err="1"/>
                        <a:t>Gao</a:t>
                      </a:r>
                      <a:r>
                        <a:rPr lang="en-IN" dirty="0"/>
                        <a:t> et al.</a:t>
                      </a:r>
                      <a:endParaRPr lang="en-US" dirty="0"/>
                    </a:p>
                  </a:txBody>
                  <a:tcPr/>
                </a:tc>
                <a:tc>
                  <a:txBody>
                    <a:bodyPr/>
                    <a:lstStyle/>
                    <a:p>
                      <a:r>
                        <a:rPr lang="en-US" dirty="0"/>
                        <a:t>Lightweight model; good precision but struggles with multiple disease types.</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40059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E3D4B-A50D-7858-2B1A-9C6BECA4B31E}"/>
              </a:ext>
            </a:extLst>
          </p:cNvPr>
          <p:cNvSpPr txBox="1"/>
          <p:nvPr/>
        </p:nvSpPr>
        <p:spPr>
          <a:xfrm>
            <a:off x="762000" y="533400"/>
            <a:ext cx="7391400"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Inferences from Literature Survey</a:t>
            </a:r>
          </a:p>
        </p:txBody>
      </p:sp>
      <p:sp>
        <p:nvSpPr>
          <p:cNvPr id="2" name="Rectangle 1"/>
          <p:cNvSpPr/>
          <p:nvPr/>
        </p:nvSpPr>
        <p:spPr>
          <a:xfrm>
            <a:off x="990600" y="1720840"/>
            <a:ext cx="7315200" cy="3366563"/>
          </a:xfrm>
          <a:prstGeom prst="rect">
            <a:avLst/>
          </a:prstGeom>
        </p:spPr>
        <p:txBody>
          <a:bodyPr wrap="square">
            <a:spAutoFit/>
          </a:bodyPr>
          <a:lstStyle/>
          <a:p>
            <a:pPr marL="285750" indent="-285750" algn="just">
              <a:lnSpc>
                <a:spcPct val="150000"/>
              </a:lnSpc>
              <a:buFont typeface="Arial" pitchFamily="34" charset="0"/>
              <a:buChar char="•"/>
            </a:pPr>
            <a:r>
              <a:rPr lang="en-US" dirty="0">
                <a:latin typeface="Times New Roman" pitchFamily="18" charset="0"/>
                <a:cs typeface="Times New Roman" pitchFamily="18" charset="0"/>
              </a:rPr>
              <a:t>CNN-based models are highly effective for plant disease classification.</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Single-model architectures fail to generalize across different datasets.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 Most models suffer from </a:t>
            </a:r>
            <a:r>
              <a:rPr lang="en-US" dirty="0" err="1">
                <a:latin typeface="Times New Roman" pitchFamily="18" charset="0"/>
                <a:cs typeface="Times New Roman" pitchFamily="18" charset="0"/>
              </a:rPr>
              <a:t>overfitting</a:t>
            </a:r>
            <a:r>
              <a:rPr lang="en-US" dirty="0">
                <a:latin typeface="Times New Roman" pitchFamily="18" charset="0"/>
                <a:cs typeface="Times New Roman" pitchFamily="18" charset="0"/>
              </a:rPr>
              <a:t> due to limited or imbalanced data.</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Ensemble learning improves overall prediction reliability and accuracy.</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 There's a need for a multi-stage approach to handle varying backgrounds, lighting, and image noise in real-world farm conditions.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proposed system fills these gaps using multi-stage CNN + Ensemble Bagging.</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57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Architectural Diagram</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7924800" cy="4525963"/>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Existing System</a:t>
            </a:r>
          </a:p>
        </p:txBody>
      </p:sp>
      <p:sp>
        <p:nvSpPr>
          <p:cNvPr id="3" name="Rectangle 2"/>
          <p:cNvSpPr/>
          <p:nvPr/>
        </p:nvSpPr>
        <p:spPr>
          <a:xfrm>
            <a:off x="685800" y="1752600"/>
            <a:ext cx="8077200" cy="646331"/>
          </a:xfrm>
          <a:prstGeom prst="rect">
            <a:avLst/>
          </a:prstGeom>
        </p:spPr>
        <p:txBody>
          <a:bodyPr wrap="square">
            <a:spAutoFit/>
          </a:bodyPr>
          <a:lstStyle/>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p:txBody>
      </p:sp>
      <p:sp>
        <p:nvSpPr>
          <p:cNvPr id="4" name="Rectangle 3"/>
          <p:cNvSpPr/>
          <p:nvPr/>
        </p:nvSpPr>
        <p:spPr>
          <a:xfrm>
            <a:off x="1295400" y="1524000"/>
            <a:ext cx="6477000" cy="4247317"/>
          </a:xfrm>
          <a:prstGeom prst="rect">
            <a:avLst/>
          </a:prstGeom>
        </p:spPr>
        <p:txBody>
          <a:bodyPr wrap="square">
            <a:spAutoFit/>
          </a:bodyPr>
          <a:lstStyle/>
          <a:p>
            <a:pPr algn="just">
              <a:lnSpc>
                <a:spcPct val="150000"/>
              </a:lnSpc>
            </a:pPr>
            <a:r>
              <a:rPr lang="en-IN" b="1" dirty="0">
                <a:latin typeface="Times New Roman" pitchFamily="18" charset="0"/>
                <a:cs typeface="Times New Roman" pitchFamily="18" charset="0"/>
              </a:rPr>
              <a:t>Manual Disease Identification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Requires expert knowledge</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Time-consuming</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Not scalable for large fields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Prone to human error</a:t>
            </a:r>
          </a:p>
          <a:p>
            <a:pPr algn="just">
              <a:lnSpc>
                <a:spcPct val="150000"/>
              </a:lnSpc>
            </a:pPr>
            <a:endParaRPr lang="en-IN" dirty="0">
              <a:latin typeface="Times New Roman" pitchFamily="18" charset="0"/>
              <a:cs typeface="Times New Roman" pitchFamily="18" charset="0"/>
            </a:endParaRPr>
          </a:p>
          <a:p>
            <a:pPr algn="just">
              <a:lnSpc>
                <a:spcPct val="150000"/>
              </a:lnSpc>
            </a:pPr>
            <a:r>
              <a:rPr lang="en-IN" b="1" dirty="0">
                <a:latin typeface="Times New Roman" pitchFamily="18" charset="0"/>
                <a:cs typeface="Times New Roman" pitchFamily="18" charset="0"/>
              </a:rPr>
              <a:t>Traditional Machine Learning</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Needs manual feature extraction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Low accuracy</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Fails under variable environmental conditions</a:t>
            </a:r>
          </a:p>
        </p:txBody>
      </p:sp>
      <p:pic>
        <p:nvPicPr>
          <p:cNvPr id="16" name="Picture 15">
            <a:extLst>
              <a:ext uri="{FF2B5EF4-FFF2-40B4-BE49-F238E27FC236}">
                <a16:creationId xmlns:a16="http://schemas.microsoft.com/office/drawing/2014/main" id="{03B2268C-F0A4-42F2-91C0-FCE5FFE12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1295400"/>
            <a:ext cx="4305300" cy="37639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Methodology</a:t>
            </a:r>
          </a:p>
        </p:txBody>
      </p:sp>
      <p:sp>
        <p:nvSpPr>
          <p:cNvPr id="3" name="Rectangle 2"/>
          <p:cNvSpPr/>
          <p:nvPr/>
        </p:nvSpPr>
        <p:spPr>
          <a:xfrm>
            <a:off x="457200" y="1524000"/>
            <a:ext cx="8077200" cy="5035353"/>
          </a:xfrm>
          <a:prstGeom prst="rect">
            <a:avLst/>
          </a:prstGeom>
        </p:spPr>
        <p:txBody>
          <a:bodyPr wrap="square">
            <a:spAutoFit/>
          </a:bodyPr>
          <a:lstStyle/>
          <a:p>
            <a:pPr algn="just">
              <a:lnSpc>
                <a:spcPct val="150000"/>
              </a:lnSpc>
            </a:pPr>
            <a:r>
              <a:rPr lang="en-IN" b="1" dirty="0">
                <a:latin typeface="Times New Roman" pitchFamily="18" charset="0"/>
                <a:cs typeface="Times New Roman" pitchFamily="18" charset="0"/>
              </a:rPr>
              <a:t>Multi-Stage Neural Network + Ensemble Learning</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Uses multiple </a:t>
            </a:r>
            <a:r>
              <a:rPr lang="en-IN" dirty="0" err="1">
                <a:latin typeface="Times New Roman" pitchFamily="18" charset="0"/>
                <a:cs typeface="Times New Roman" pitchFamily="18" charset="0"/>
              </a:rPr>
              <a:t>pretrained</a:t>
            </a:r>
            <a:r>
              <a:rPr lang="en-IN" dirty="0">
                <a:latin typeface="Times New Roman" pitchFamily="18" charset="0"/>
                <a:cs typeface="Times New Roman" pitchFamily="18" charset="0"/>
              </a:rPr>
              <a:t> CNN models (DenseNet201, MobileNetV2, Custom CNN).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Bagging technique used to generate diverse training subsets.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Ensemble integrates predictions using reliability scoring.</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High accuracy across multiple datasets (up to 99.16%).</a:t>
            </a:r>
          </a:p>
          <a:p>
            <a:pPr algn="just">
              <a:lnSpc>
                <a:spcPct val="150000"/>
              </a:lnSpc>
            </a:pPr>
            <a:r>
              <a:rPr lang="en-IN" b="1" dirty="0">
                <a:latin typeface="Times New Roman" pitchFamily="18" charset="0"/>
                <a:cs typeface="Times New Roman" pitchFamily="18" charset="0"/>
              </a:rPr>
              <a:t>Key Steps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Data collection</a:t>
            </a:r>
          </a:p>
          <a:p>
            <a:pPr marL="285750" indent="-285750" algn="just">
              <a:lnSpc>
                <a:spcPct val="150000"/>
              </a:lnSpc>
              <a:buFont typeface="Arial" pitchFamily="34" charset="0"/>
              <a:buChar char="•"/>
            </a:pPr>
            <a:r>
              <a:rPr lang="en-IN" dirty="0" err="1">
                <a:latin typeface="Times New Roman" pitchFamily="18" charset="0"/>
                <a:cs typeface="Times New Roman" pitchFamily="18" charset="0"/>
              </a:rPr>
              <a:t>Preprocessing</a:t>
            </a:r>
            <a:r>
              <a:rPr lang="en-IN" dirty="0">
                <a:latin typeface="Times New Roman" pitchFamily="18" charset="0"/>
                <a:cs typeface="Times New Roman" pitchFamily="18" charset="0"/>
              </a:rPr>
              <a:t> &amp; augmentation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Feature extraction using CNN models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Ensemble integration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Final disease classification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Requirement specification</a:t>
            </a:r>
          </a:p>
        </p:txBody>
      </p:sp>
      <p:sp>
        <p:nvSpPr>
          <p:cNvPr id="5" name="Rectangle 4"/>
          <p:cNvSpPr/>
          <p:nvPr/>
        </p:nvSpPr>
        <p:spPr>
          <a:xfrm>
            <a:off x="1183758" y="1676400"/>
            <a:ext cx="7045842" cy="5035353"/>
          </a:xfrm>
          <a:prstGeom prst="rect">
            <a:avLst/>
          </a:prstGeom>
        </p:spPr>
        <p:txBody>
          <a:bodyPr wrap="square">
            <a:spAutoFit/>
          </a:bodyPr>
          <a:lstStyle/>
          <a:p>
            <a:pPr algn="just">
              <a:lnSpc>
                <a:spcPct val="150000"/>
              </a:lnSpc>
            </a:pPr>
            <a:r>
              <a:rPr lang="en-IN" b="1" dirty="0">
                <a:latin typeface="Times New Roman" pitchFamily="18" charset="0"/>
                <a:cs typeface="Times New Roman" pitchFamily="18" charset="0"/>
              </a:rPr>
              <a:t>Software Requirements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Python 3.11</a:t>
            </a:r>
          </a:p>
          <a:p>
            <a:pPr marL="285750" indent="-285750" algn="just">
              <a:lnSpc>
                <a:spcPct val="150000"/>
              </a:lnSpc>
              <a:buFont typeface="Arial" pitchFamily="34" charset="0"/>
              <a:buChar char="•"/>
            </a:pPr>
            <a:r>
              <a:rPr lang="en-IN" dirty="0" err="1">
                <a:latin typeface="Times New Roman" pitchFamily="18" charset="0"/>
                <a:cs typeface="Times New Roman" pitchFamily="18" charset="0"/>
              </a:rPr>
              <a:t>TensorFlow</a:t>
            </a:r>
            <a:r>
              <a:rPr lang="en-IN" dirty="0">
                <a:latin typeface="Times New Roman" pitchFamily="18" charset="0"/>
                <a:cs typeface="Times New Roman" pitchFamily="18" charset="0"/>
              </a:rPr>
              <a:t> / </a:t>
            </a:r>
            <a:r>
              <a:rPr lang="en-IN" dirty="0" err="1">
                <a:latin typeface="Times New Roman" pitchFamily="18" charset="0"/>
                <a:cs typeface="Times New Roman" pitchFamily="18" charset="0"/>
              </a:rPr>
              <a:t>Keras</a:t>
            </a:r>
            <a:endParaRPr lang="en-IN" dirty="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err="1">
                <a:latin typeface="Times New Roman" pitchFamily="18" charset="0"/>
                <a:cs typeface="Times New Roman" pitchFamily="18" charset="0"/>
              </a:rPr>
              <a:t>NumPy</a:t>
            </a:r>
            <a:r>
              <a:rPr lang="en-IN" dirty="0">
                <a:latin typeface="Times New Roman" pitchFamily="18" charset="0"/>
                <a:cs typeface="Times New Roman" pitchFamily="18" charset="0"/>
              </a:rPr>
              <a:t>, Pandas, </a:t>
            </a:r>
            <a:r>
              <a:rPr lang="en-IN" dirty="0" err="1">
                <a:latin typeface="Times New Roman" pitchFamily="18" charset="0"/>
                <a:cs typeface="Times New Roman" pitchFamily="18" charset="0"/>
              </a:rPr>
              <a:t>Matplotlib</a:t>
            </a:r>
            <a:endParaRPr lang="en-IN" dirty="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err="1">
                <a:latin typeface="Times New Roman" pitchFamily="18" charset="0"/>
                <a:cs typeface="Times New Roman" pitchFamily="18" charset="0"/>
              </a:rPr>
              <a:t>OpenCV</a:t>
            </a:r>
            <a:endParaRPr lang="en-IN" dirty="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a:latin typeface="Times New Roman" pitchFamily="18" charset="0"/>
                <a:cs typeface="Times New Roman" pitchFamily="18" charset="0"/>
              </a:rPr>
              <a:t>GPU Support (CUDA recommended)</a:t>
            </a:r>
          </a:p>
          <a:p>
            <a:pPr marL="285750" indent="-285750" algn="just">
              <a:lnSpc>
                <a:spcPct val="150000"/>
              </a:lnSpc>
              <a:buFont typeface="Arial" pitchFamily="34" charset="0"/>
              <a:buChar char="•"/>
            </a:pPr>
            <a:r>
              <a:rPr lang="en-IN" dirty="0" err="1">
                <a:latin typeface="Times New Roman" pitchFamily="18" charset="0"/>
                <a:cs typeface="Times New Roman" pitchFamily="18" charset="0"/>
              </a:rPr>
              <a:t>Jupyter</a:t>
            </a:r>
            <a:r>
              <a:rPr lang="en-IN" dirty="0">
                <a:latin typeface="Times New Roman" pitchFamily="18" charset="0"/>
                <a:cs typeface="Times New Roman" pitchFamily="18" charset="0"/>
              </a:rPr>
              <a:t> / Google </a:t>
            </a:r>
            <a:r>
              <a:rPr lang="en-IN" dirty="0" err="1">
                <a:latin typeface="Times New Roman" pitchFamily="18" charset="0"/>
                <a:cs typeface="Times New Roman" pitchFamily="18" charset="0"/>
              </a:rPr>
              <a:t>Colab</a:t>
            </a:r>
            <a:endParaRPr lang="en-IN" dirty="0">
              <a:latin typeface="Times New Roman" pitchFamily="18" charset="0"/>
              <a:cs typeface="Times New Roman" pitchFamily="18" charset="0"/>
            </a:endParaRPr>
          </a:p>
          <a:p>
            <a:pPr algn="just">
              <a:lnSpc>
                <a:spcPct val="150000"/>
              </a:lnSpc>
            </a:pPr>
            <a:r>
              <a:rPr lang="en-IN" b="1" dirty="0">
                <a:latin typeface="Times New Roman" pitchFamily="18" charset="0"/>
                <a:cs typeface="Times New Roman" pitchFamily="18" charset="0"/>
              </a:rPr>
              <a:t>Hardware Requirements</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8GB RAM (minimum)</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NVIDIA GPU (Recommended: 4GB+)</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i5/i7 Processor</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250GB Storage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sp>
        <p:nvSpPr>
          <p:cNvPr id="3" name="Rectangle 2"/>
          <p:cNvSpPr/>
          <p:nvPr/>
        </p:nvSpPr>
        <p:spPr>
          <a:xfrm>
            <a:off x="685800" y="1305342"/>
            <a:ext cx="8001000" cy="3416320"/>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The proposed multi-stage neural network–based ensemble learning framework provides a highly accurate and robust solution for wheat leaf disease classification. By combining multiple CNN architectures with ensemble strategies, the system effectively addresses limitations of earlier models such as </a:t>
            </a:r>
            <a:r>
              <a:rPr lang="en-US" dirty="0" err="1">
                <a:latin typeface="Times New Roman" pitchFamily="18" charset="0"/>
                <a:cs typeface="Times New Roman" pitchFamily="18" charset="0"/>
              </a:rPr>
              <a:t>overfitting</a:t>
            </a:r>
            <a:r>
              <a:rPr lang="en-US" dirty="0">
                <a:latin typeface="Times New Roman" pitchFamily="18" charset="0"/>
                <a:cs typeface="Times New Roman" pitchFamily="18" charset="0"/>
              </a:rPr>
              <a:t>, dataset dependency, and environmental variability. The method achieves superior cross-dataset performance and demonstrates strong potential for real-world deployment in agriculture. Future work includes optimizing the model for mobile devices, enhancing dataset diversity, and adding disease severity estimation.</a:t>
            </a:r>
            <a:endParaRPr lang="en-IN"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4DC76199-431C-4D95-8244-28DABD82AB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499" y="4991100"/>
            <a:ext cx="3048001" cy="1866900"/>
          </a:xfrm>
          <a:prstGeom prst="rect">
            <a:avLst/>
          </a:prstGeom>
        </p:spPr>
      </p:pic>
      <p:pic>
        <p:nvPicPr>
          <p:cNvPr id="20" name="Picture 19">
            <a:extLst>
              <a:ext uri="{FF2B5EF4-FFF2-40B4-BE49-F238E27FC236}">
                <a16:creationId xmlns:a16="http://schemas.microsoft.com/office/drawing/2014/main" id="{5336B5EF-79CE-4652-8301-CF5CA4A98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4991100"/>
            <a:ext cx="2447925" cy="1866900"/>
          </a:xfrm>
          <a:prstGeom prst="rect">
            <a:avLst/>
          </a:prstGeom>
        </p:spPr>
      </p:pic>
      <p:pic>
        <p:nvPicPr>
          <p:cNvPr id="22" name="Picture 21">
            <a:extLst>
              <a:ext uri="{FF2B5EF4-FFF2-40B4-BE49-F238E27FC236}">
                <a16:creationId xmlns:a16="http://schemas.microsoft.com/office/drawing/2014/main" id="{1EE85456-F3B3-40D9-A292-A076BE3B7B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8425" y="4991100"/>
            <a:ext cx="2466975" cy="18478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354</TotalTime>
  <Words>809</Words>
  <Application>Microsoft Office PowerPoint</Application>
  <PresentationFormat>On-screen Show (4:3)</PresentationFormat>
  <Paragraphs>109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DATA SCIENCE)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Requirement specification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yaswasree</cp:lastModifiedBy>
  <cp:revision>33</cp:revision>
  <dcterms:created xsi:type="dcterms:W3CDTF">2006-08-16T00:00:00Z</dcterms:created>
  <dcterms:modified xsi:type="dcterms:W3CDTF">2025-11-18T15:39:37Z</dcterms:modified>
</cp:coreProperties>
</file>